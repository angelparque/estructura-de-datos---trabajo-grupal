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ton" charset="1" panose="00000500000000000000"/>
      <p:regular r:id="rId21"/>
    </p:embeddedFont>
    <p:embeddedFont>
      <p:font typeface="Canva Sans" charset="1" panose="020B0503030501040103"/>
      <p:regular r:id="rId22"/>
    </p:embeddedFont>
    <p:embeddedFont>
      <p:font typeface="Canva Sans Bold" charset="1" panose="020B0803030501040103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12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26615" y="3277376"/>
            <a:ext cx="14034770" cy="37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2"/>
              </a:lnSpc>
            </a:pPr>
            <a:r>
              <a:rPr lang="en-US" sz="1231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TRABAJO FINAL - ESTRUCTURA DE DATOS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737429" y="-27575"/>
            <a:ext cx="3122179" cy="2196878"/>
          </a:xfrm>
          <a:custGeom>
            <a:avLst/>
            <a:gdLst/>
            <a:ahLst/>
            <a:cxnLst/>
            <a:rect r="r" b="b" t="t" l="l"/>
            <a:pathLst>
              <a:path h="2196878" w="3122179">
                <a:moveTo>
                  <a:pt x="0" y="0"/>
                </a:moveTo>
                <a:lnTo>
                  <a:pt x="3122178" y="0"/>
                </a:lnTo>
                <a:lnTo>
                  <a:pt x="3122178" y="2196879"/>
                </a:lnTo>
                <a:lnTo>
                  <a:pt x="0" y="2196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119381" y="8269773"/>
            <a:ext cx="2906048" cy="2044801"/>
          </a:xfrm>
          <a:custGeom>
            <a:avLst/>
            <a:gdLst/>
            <a:ahLst/>
            <a:cxnLst/>
            <a:rect r="r" b="b" t="t" l="l"/>
            <a:pathLst>
              <a:path h="2044801" w="2906048">
                <a:moveTo>
                  <a:pt x="2906048" y="0"/>
                </a:moveTo>
                <a:lnTo>
                  <a:pt x="0" y="0"/>
                </a:lnTo>
                <a:lnTo>
                  <a:pt x="0" y="2044802"/>
                </a:lnTo>
                <a:lnTo>
                  <a:pt x="2906048" y="2044802"/>
                </a:lnTo>
                <a:lnTo>
                  <a:pt x="2906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23490" y="8048169"/>
            <a:ext cx="1871253" cy="278987"/>
          </a:xfrm>
          <a:custGeom>
            <a:avLst/>
            <a:gdLst/>
            <a:ahLst/>
            <a:cxnLst/>
            <a:rect r="r" b="b" t="t" l="l"/>
            <a:pathLst>
              <a:path h="278987" w="1871253">
                <a:moveTo>
                  <a:pt x="0" y="0"/>
                </a:moveTo>
                <a:lnTo>
                  <a:pt x="1871253" y="0"/>
                </a:lnTo>
                <a:lnTo>
                  <a:pt x="1871253" y="278986"/>
                </a:lnTo>
                <a:lnTo>
                  <a:pt x="0" y="278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723490" y="125511"/>
            <a:ext cx="18607005" cy="1472271"/>
          </a:xfrm>
          <a:custGeom>
            <a:avLst/>
            <a:gdLst/>
            <a:ahLst/>
            <a:cxnLst/>
            <a:rect r="r" b="b" t="t" l="l"/>
            <a:pathLst>
              <a:path h="1472271" w="18607005">
                <a:moveTo>
                  <a:pt x="18607004" y="0"/>
                </a:moveTo>
                <a:lnTo>
                  <a:pt x="0" y="0"/>
                </a:lnTo>
                <a:lnTo>
                  <a:pt x="0" y="1472272"/>
                </a:lnTo>
                <a:lnTo>
                  <a:pt x="18607004" y="1472272"/>
                </a:lnTo>
                <a:lnTo>
                  <a:pt x="186070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5223" y="1028700"/>
            <a:ext cx="9204587" cy="185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38"/>
              </a:lnSpc>
            </a:pPr>
            <a:r>
              <a:rPr lang="en-US" sz="121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88425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21304" y="0"/>
            <a:ext cx="3522090" cy="2478270"/>
          </a:xfrm>
          <a:custGeom>
            <a:avLst/>
            <a:gdLst/>
            <a:ahLst/>
            <a:cxnLst/>
            <a:rect r="r" b="b" t="t" l="l"/>
            <a:pathLst>
              <a:path h="2478270" w="3522090">
                <a:moveTo>
                  <a:pt x="3522090" y="0"/>
                </a:moveTo>
                <a:lnTo>
                  <a:pt x="0" y="0"/>
                </a:lnTo>
                <a:lnTo>
                  <a:pt x="0" y="2478270"/>
                </a:lnTo>
                <a:lnTo>
                  <a:pt x="3522090" y="2478270"/>
                </a:lnTo>
                <a:lnTo>
                  <a:pt x="35220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47393" y="8453487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5223" y="3588752"/>
            <a:ext cx="7423946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Parque Niquen Angel Luis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Cuba Perez Jhosep Jhordan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Chanco Chambergo Jhymm Amir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Tacza Paredez Diego Shandel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8320" y="6016320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6" y="0"/>
                </a:lnTo>
                <a:lnTo>
                  <a:pt x="3387846" y="1006015"/>
                </a:lnTo>
                <a:lnTo>
                  <a:pt x="0" y="100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780355"/>
            <a:ext cx="8889312" cy="5477945"/>
            <a:chOff x="0" y="0"/>
            <a:chExt cx="830337" cy="5116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8631" y="24680"/>
              <a:ext cx="733074" cy="462326"/>
            </a:xfrm>
            <a:custGeom>
              <a:avLst/>
              <a:gdLst/>
              <a:ahLst/>
              <a:cxnLst/>
              <a:rect r="r" b="b" t="t" l="l"/>
              <a:pathLst>
                <a:path h="462326" w="733074">
                  <a:moveTo>
                    <a:pt x="440682" y="21011"/>
                  </a:moveTo>
                  <a:lnTo>
                    <a:pt x="707561" y="185472"/>
                  </a:lnTo>
                  <a:cubicBezTo>
                    <a:pt x="723418" y="195244"/>
                    <a:pt x="733074" y="212538"/>
                    <a:pt x="733074" y="231163"/>
                  </a:cubicBezTo>
                  <a:cubicBezTo>
                    <a:pt x="733074" y="249789"/>
                    <a:pt x="723418" y="267083"/>
                    <a:pt x="707561" y="276854"/>
                  </a:cubicBezTo>
                  <a:lnTo>
                    <a:pt x="440682" y="441315"/>
                  </a:lnTo>
                  <a:cubicBezTo>
                    <a:pt x="395222" y="469330"/>
                    <a:pt x="337853" y="469330"/>
                    <a:pt x="292393" y="441315"/>
                  </a:cubicBezTo>
                  <a:lnTo>
                    <a:pt x="25514" y="276854"/>
                  </a:lnTo>
                  <a:cubicBezTo>
                    <a:pt x="9657" y="267083"/>
                    <a:pt x="0" y="249789"/>
                    <a:pt x="0" y="231163"/>
                  </a:cubicBezTo>
                  <a:cubicBezTo>
                    <a:pt x="0" y="212538"/>
                    <a:pt x="9657" y="195244"/>
                    <a:pt x="25514" y="185472"/>
                  </a:cubicBezTo>
                  <a:lnTo>
                    <a:pt x="292393" y="21011"/>
                  </a:lnTo>
                  <a:cubicBezTo>
                    <a:pt x="337853" y="-7004"/>
                    <a:pt x="395222" y="-7004"/>
                    <a:pt x="440682" y="21011"/>
                  </a:cubicBezTo>
                  <a:close/>
                </a:path>
              </a:pathLst>
            </a:custGeom>
            <a:blipFill>
              <a:blip r:embed="rId4"/>
              <a:stretch>
                <a:fillRect l="143" t="-2808" r="143" b="-2808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60164" y="736955"/>
            <a:ext cx="1889448" cy="2097080"/>
          </a:xfrm>
          <a:custGeom>
            <a:avLst/>
            <a:gdLst/>
            <a:ahLst/>
            <a:cxnLst/>
            <a:rect r="r" b="b" t="t" l="l"/>
            <a:pathLst>
              <a:path h="2097080" w="1889448">
                <a:moveTo>
                  <a:pt x="0" y="0"/>
                </a:moveTo>
                <a:lnTo>
                  <a:pt x="1889449" y="0"/>
                </a:lnTo>
                <a:lnTo>
                  <a:pt x="1889449" y="2097080"/>
                </a:lnTo>
                <a:lnTo>
                  <a:pt x="0" y="20970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42771" y="736955"/>
            <a:ext cx="1220245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DESCRIPCIÓN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214580"/>
            <a:ext cx="8369552" cy="455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ejecución simultánea de aplicaciones exige que el sistema operativo gestione bien el hardware. Sin un control adecuado, la CPU puede saturarse con tareas secundarias (causando inanición de las prioritarias) y la RAM puede asignarse de forma caótica, provocando desbordamientos o falta de espacio.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9630" y="1497610"/>
            <a:ext cx="8186509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QUE SE BUSCA RESOLVER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46560" y="4592054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99952" y="692551"/>
            <a:ext cx="9014878" cy="8857494"/>
            <a:chOff x="0" y="0"/>
            <a:chExt cx="830337" cy="8158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6016" y="35130"/>
              <a:ext cx="758304" cy="745580"/>
            </a:xfrm>
            <a:custGeom>
              <a:avLst/>
              <a:gdLst/>
              <a:ahLst/>
              <a:cxnLst/>
              <a:rect r="r" b="b" t="t" l="l"/>
              <a:pathLst>
                <a:path h="745580" w="758304">
                  <a:moveTo>
                    <a:pt x="440411" y="25059"/>
                  </a:moveTo>
                  <a:lnTo>
                    <a:pt x="733063" y="312602"/>
                  </a:lnTo>
                  <a:cubicBezTo>
                    <a:pt x="749209" y="328466"/>
                    <a:pt x="758305" y="350154"/>
                    <a:pt x="758305" y="372790"/>
                  </a:cubicBezTo>
                  <a:cubicBezTo>
                    <a:pt x="758305" y="395427"/>
                    <a:pt x="749209" y="417114"/>
                    <a:pt x="733063" y="432979"/>
                  </a:cubicBezTo>
                  <a:lnTo>
                    <a:pt x="440411" y="720522"/>
                  </a:lnTo>
                  <a:cubicBezTo>
                    <a:pt x="406406" y="753933"/>
                    <a:pt x="351899" y="753933"/>
                    <a:pt x="317894" y="720522"/>
                  </a:cubicBezTo>
                  <a:lnTo>
                    <a:pt x="25242" y="432979"/>
                  </a:lnTo>
                  <a:cubicBezTo>
                    <a:pt x="9095" y="417114"/>
                    <a:pt x="0" y="395427"/>
                    <a:pt x="0" y="372790"/>
                  </a:cubicBezTo>
                  <a:cubicBezTo>
                    <a:pt x="0" y="350154"/>
                    <a:pt x="9095" y="328466"/>
                    <a:pt x="25242" y="312602"/>
                  </a:cubicBezTo>
                  <a:lnTo>
                    <a:pt x="317894" y="25059"/>
                  </a:lnTo>
                  <a:cubicBezTo>
                    <a:pt x="351899" y="-8353"/>
                    <a:pt x="406406" y="-8353"/>
                    <a:pt x="440411" y="25059"/>
                  </a:cubicBezTo>
                  <a:close/>
                </a:path>
              </a:pathLst>
            </a:custGeom>
            <a:solidFill>
              <a:srgbClr val="2E70A3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99952" y="692551"/>
            <a:ext cx="9014878" cy="8857494"/>
            <a:chOff x="0" y="0"/>
            <a:chExt cx="830337" cy="8158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6016" y="35130"/>
              <a:ext cx="758304" cy="745580"/>
            </a:xfrm>
            <a:custGeom>
              <a:avLst/>
              <a:gdLst/>
              <a:ahLst/>
              <a:cxnLst/>
              <a:rect r="r" b="b" t="t" l="l"/>
              <a:pathLst>
                <a:path h="745580" w="758304">
                  <a:moveTo>
                    <a:pt x="440411" y="25059"/>
                  </a:moveTo>
                  <a:lnTo>
                    <a:pt x="733063" y="312602"/>
                  </a:lnTo>
                  <a:cubicBezTo>
                    <a:pt x="749209" y="328466"/>
                    <a:pt x="758305" y="350154"/>
                    <a:pt x="758305" y="372790"/>
                  </a:cubicBezTo>
                  <a:cubicBezTo>
                    <a:pt x="758305" y="395427"/>
                    <a:pt x="749209" y="417114"/>
                    <a:pt x="733063" y="432979"/>
                  </a:cubicBezTo>
                  <a:lnTo>
                    <a:pt x="440411" y="720522"/>
                  </a:lnTo>
                  <a:cubicBezTo>
                    <a:pt x="406406" y="753933"/>
                    <a:pt x="351899" y="753933"/>
                    <a:pt x="317894" y="720522"/>
                  </a:cubicBezTo>
                  <a:lnTo>
                    <a:pt x="25242" y="432979"/>
                  </a:lnTo>
                  <a:cubicBezTo>
                    <a:pt x="9095" y="417114"/>
                    <a:pt x="0" y="395427"/>
                    <a:pt x="0" y="372790"/>
                  </a:cubicBezTo>
                  <a:cubicBezTo>
                    <a:pt x="0" y="350154"/>
                    <a:pt x="9095" y="328466"/>
                    <a:pt x="25242" y="312602"/>
                  </a:cubicBezTo>
                  <a:lnTo>
                    <a:pt x="317894" y="25059"/>
                  </a:lnTo>
                  <a:cubicBezTo>
                    <a:pt x="351899" y="-8353"/>
                    <a:pt x="406406" y="-8353"/>
                    <a:pt x="440411" y="25059"/>
                  </a:cubicBezTo>
                  <a:close/>
                </a:path>
              </a:pathLst>
            </a:custGeom>
            <a:blipFill>
              <a:blip r:embed="rId4"/>
              <a:stretch>
                <a:fillRect l="-23887" t="101" r="-23887" b="101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37193" y="8196045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5" y="0"/>
                </a:lnTo>
                <a:lnTo>
                  <a:pt x="1793215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737429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6" y="1810959"/>
                </a:lnTo>
                <a:lnTo>
                  <a:pt x="22887446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9630" y="4015818"/>
            <a:ext cx="8644805" cy="112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Solucionar estos tres principales problemas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9630" y="5531395"/>
            <a:ext cx="8644805" cy="169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Organizac</a:t>
            </a: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ión</a:t>
            </a:r>
          </a:p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Priorización</a:t>
            </a:r>
          </a:p>
          <a:p>
            <a:pPr algn="l" marL="696941" indent="-348471" lvl="1">
              <a:lnSpc>
                <a:spcPts val="4519"/>
              </a:lnSpc>
              <a:buFont typeface="Arial"/>
              <a:buChar char="•"/>
            </a:pPr>
            <a:r>
              <a:rPr lang="en-US" sz="3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 de memoria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6845" y="5317852"/>
            <a:ext cx="8889312" cy="3823514"/>
            <a:chOff x="0" y="0"/>
            <a:chExt cx="830337" cy="357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7347" y="17936"/>
              <a:ext cx="715644" cy="321277"/>
            </a:xfrm>
            <a:custGeom>
              <a:avLst/>
              <a:gdLst/>
              <a:ahLst/>
              <a:cxnLst/>
              <a:rect r="r" b="b" t="t" l="l"/>
              <a:pathLst>
                <a:path h="321277" w="715644">
                  <a:moveTo>
                    <a:pt x="437827" y="16476"/>
                  </a:moveTo>
                  <a:lnTo>
                    <a:pt x="692984" y="126226"/>
                  </a:lnTo>
                  <a:cubicBezTo>
                    <a:pt x="706734" y="132140"/>
                    <a:pt x="715643" y="145671"/>
                    <a:pt x="715643" y="160638"/>
                  </a:cubicBezTo>
                  <a:cubicBezTo>
                    <a:pt x="715643" y="175606"/>
                    <a:pt x="706734" y="189137"/>
                    <a:pt x="692984" y="195051"/>
                  </a:cubicBezTo>
                  <a:lnTo>
                    <a:pt x="437827" y="304800"/>
                  </a:lnTo>
                  <a:cubicBezTo>
                    <a:pt x="386752" y="326769"/>
                    <a:pt x="328891" y="326769"/>
                    <a:pt x="277816" y="304800"/>
                  </a:cubicBezTo>
                  <a:lnTo>
                    <a:pt x="22659" y="195051"/>
                  </a:lnTo>
                  <a:cubicBezTo>
                    <a:pt x="8909" y="189137"/>
                    <a:pt x="0" y="175606"/>
                    <a:pt x="0" y="160638"/>
                  </a:cubicBezTo>
                  <a:cubicBezTo>
                    <a:pt x="0" y="145671"/>
                    <a:pt x="8909" y="132140"/>
                    <a:pt x="22659" y="126226"/>
                  </a:cubicBezTo>
                  <a:lnTo>
                    <a:pt x="277816" y="16476"/>
                  </a:lnTo>
                  <a:cubicBezTo>
                    <a:pt x="328891" y="-5492"/>
                    <a:pt x="386752" y="-5492"/>
                    <a:pt x="437827" y="16476"/>
                  </a:cubicBezTo>
                  <a:close/>
                </a:path>
              </a:pathLst>
            </a:custGeom>
            <a:blipFill>
              <a:blip r:embed="rId2"/>
              <a:stretch>
                <a:fillRect l="172" t="-24085" r="172" b="-24085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655892"/>
            <a:ext cx="8436235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53985" y="1804709"/>
            <a:ext cx="7145542" cy="662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22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2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equisitos Funcionales (RF)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RF-01 (Registrar): Creación dinámica de procesos con ID, nombre y prioridad.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RF-02 (Eliminar): Remoción de procesos finalizados o cancelados.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RF-03 (Buscar): Localización de procesos por ID o nombre.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RF-04 (Modificar Prioridad): Cambio de importancia para reordenar la ejecución.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RF-05 (Planificar CPU): Despacho prioritario de tareas en la cola.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RF-06 (Gestionar Memoria): Asignación y liberación secuencial de bloques de memoria.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RF-07 (Mostrar Estado): Interfaz que visualiza procesos, cola CPU y mapa de memoria.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RF-08 (Persistencia): Guardado y carga local de datos.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6845" y="5317852"/>
            <a:ext cx="8889312" cy="3823514"/>
            <a:chOff x="0" y="0"/>
            <a:chExt cx="830337" cy="357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7347" y="17936"/>
              <a:ext cx="715644" cy="321277"/>
            </a:xfrm>
            <a:custGeom>
              <a:avLst/>
              <a:gdLst/>
              <a:ahLst/>
              <a:cxnLst/>
              <a:rect r="r" b="b" t="t" l="l"/>
              <a:pathLst>
                <a:path h="321277" w="715644">
                  <a:moveTo>
                    <a:pt x="437827" y="16476"/>
                  </a:moveTo>
                  <a:lnTo>
                    <a:pt x="692984" y="126226"/>
                  </a:lnTo>
                  <a:cubicBezTo>
                    <a:pt x="706734" y="132140"/>
                    <a:pt x="715643" y="145671"/>
                    <a:pt x="715643" y="160638"/>
                  </a:cubicBezTo>
                  <a:cubicBezTo>
                    <a:pt x="715643" y="175606"/>
                    <a:pt x="706734" y="189137"/>
                    <a:pt x="692984" y="195051"/>
                  </a:cubicBezTo>
                  <a:lnTo>
                    <a:pt x="437827" y="304800"/>
                  </a:lnTo>
                  <a:cubicBezTo>
                    <a:pt x="386752" y="326769"/>
                    <a:pt x="328891" y="326769"/>
                    <a:pt x="277816" y="304800"/>
                  </a:cubicBezTo>
                  <a:lnTo>
                    <a:pt x="22659" y="195051"/>
                  </a:lnTo>
                  <a:cubicBezTo>
                    <a:pt x="8909" y="189137"/>
                    <a:pt x="0" y="175606"/>
                    <a:pt x="0" y="160638"/>
                  </a:cubicBezTo>
                  <a:cubicBezTo>
                    <a:pt x="0" y="145671"/>
                    <a:pt x="8909" y="132140"/>
                    <a:pt x="22659" y="126226"/>
                  </a:cubicBezTo>
                  <a:lnTo>
                    <a:pt x="277816" y="16476"/>
                  </a:lnTo>
                  <a:cubicBezTo>
                    <a:pt x="328891" y="-5492"/>
                    <a:pt x="386752" y="-5492"/>
                    <a:pt x="437827" y="16476"/>
                  </a:cubicBezTo>
                  <a:close/>
                </a:path>
              </a:pathLst>
            </a:custGeom>
            <a:blipFill>
              <a:blip r:embed="rId2"/>
              <a:stretch>
                <a:fillRect l="172" t="-33242" r="172" b="-33242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8953" y="1051548"/>
            <a:ext cx="8436235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REQUERIMIENTOS DEL SISTEMA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6157" y="3311914"/>
            <a:ext cx="7145542" cy="315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b="true" sz="222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Requisitos No Funcionales (RNF)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RNF-01 (Herramienta): Desarrollado en C++ usando el compilador Dev-C++.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RNF-02 (Interfaz): Menú de opciones estructurado en consola.</a:t>
            </a: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RNF-03 (Validación de Datos): Control de entradas del usuario para evitar colapsos.</a:t>
            </a:r>
          </a:p>
          <a:p>
            <a:pPr algn="just">
              <a:lnSpc>
                <a:spcPts val="33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216" y="6016320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6" y="0"/>
                </a:lnTo>
                <a:lnTo>
                  <a:pt x="3387846" y="1006015"/>
                </a:lnTo>
                <a:lnTo>
                  <a:pt x="0" y="100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394" y="3387024"/>
            <a:ext cx="7526694" cy="3906132"/>
            <a:chOff x="0" y="0"/>
            <a:chExt cx="1166082" cy="6051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6082" cy="605162"/>
            </a:xfrm>
            <a:custGeom>
              <a:avLst/>
              <a:gdLst/>
              <a:ahLst/>
              <a:cxnLst/>
              <a:rect r="r" b="b" t="t" l="l"/>
              <a:pathLst>
                <a:path h="605162" w="1166082">
                  <a:moveTo>
                    <a:pt x="102860" y="0"/>
                  </a:moveTo>
                  <a:lnTo>
                    <a:pt x="1063222" y="0"/>
                  </a:lnTo>
                  <a:cubicBezTo>
                    <a:pt x="1090502" y="0"/>
                    <a:pt x="1116665" y="10837"/>
                    <a:pt x="1135955" y="30127"/>
                  </a:cubicBezTo>
                  <a:cubicBezTo>
                    <a:pt x="1155245" y="49417"/>
                    <a:pt x="1166082" y="75579"/>
                    <a:pt x="1166082" y="102860"/>
                  </a:cubicBezTo>
                  <a:lnTo>
                    <a:pt x="1166082" y="502303"/>
                  </a:lnTo>
                  <a:cubicBezTo>
                    <a:pt x="1166082" y="529583"/>
                    <a:pt x="1155245" y="555745"/>
                    <a:pt x="1135955" y="575035"/>
                  </a:cubicBezTo>
                  <a:cubicBezTo>
                    <a:pt x="1116665" y="594325"/>
                    <a:pt x="1090502" y="605162"/>
                    <a:pt x="1063222" y="605162"/>
                  </a:cubicBezTo>
                  <a:lnTo>
                    <a:pt x="102860" y="605162"/>
                  </a:lnTo>
                  <a:cubicBezTo>
                    <a:pt x="75579" y="605162"/>
                    <a:pt x="49417" y="594325"/>
                    <a:pt x="30127" y="575035"/>
                  </a:cubicBezTo>
                  <a:cubicBezTo>
                    <a:pt x="10837" y="555745"/>
                    <a:pt x="0" y="529583"/>
                    <a:pt x="0" y="502303"/>
                  </a:cubicBezTo>
                  <a:lnTo>
                    <a:pt x="0" y="102860"/>
                  </a:lnTo>
                  <a:cubicBezTo>
                    <a:pt x="0" y="75579"/>
                    <a:pt x="10837" y="49417"/>
                    <a:pt x="30127" y="30127"/>
                  </a:cubicBezTo>
                  <a:cubicBezTo>
                    <a:pt x="49417" y="10837"/>
                    <a:pt x="75579" y="0"/>
                    <a:pt x="1028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0430" r="0" b="-70430"/>
              </a:stretch>
            </a:blipFill>
            <a:ln w="95250" cap="rnd">
              <a:solidFill>
                <a:srgbClr val="0A154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555892" y="8953486"/>
            <a:ext cx="22887446" cy="1810960"/>
          </a:xfrm>
          <a:custGeom>
            <a:avLst/>
            <a:gdLst/>
            <a:ahLst/>
            <a:cxnLst/>
            <a:rect r="r" b="b" t="t" l="l"/>
            <a:pathLst>
              <a:path h="1810960" w="22887446">
                <a:moveTo>
                  <a:pt x="0" y="1810959"/>
                </a:moveTo>
                <a:lnTo>
                  <a:pt x="22887447" y="1810959"/>
                </a:lnTo>
                <a:lnTo>
                  <a:pt x="22887447" y="0"/>
                </a:lnTo>
                <a:lnTo>
                  <a:pt x="0" y="0"/>
                </a:lnTo>
                <a:lnTo>
                  <a:pt x="0" y="181095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2874"/>
            <a:ext cx="11760213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ESTRUCTURAS DE DATOS PROPUESTOS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7290" y="2182507"/>
            <a:ext cx="8095107" cy="633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struct NodoProceso {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id;             // Identificador único del proceso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string nombre;        // Nombre de la aplicación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 prioridad;        // Nivel de importancia (ej: 1 = Alta, 3 = Baja)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 memoria;        // Cantidad de bloques de memoria consumidos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NodoProceso* siguiente;  // Puntero de enlace al próximo nodo</a:t>
            </a:r>
          </a:p>
          <a:p>
            <a:pPr algn="just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};</a:t>
            </a:r>
          </a:p>
          <a:p>
            <a:pPr algn="l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partir de esta struct base, se unirán las tres estructuras dinámicas lineales obligatorias:  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Lista Enlazada Simple: Para el registro general y manipulación de procesos.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Cola de Prioridad: Para la simulación del despacho de tareas a la CPU.</a:t>
            </a:r>
          </a:p>
          <a:p>
            <a:pPr algn="l" marL="481047" indent="-240523" lvl="1">
              <a:lnSpc>
                <a:spcPts val="2673"/>
              </a:lnSpc>
              <a:buFont typeface="Arial"/>
              <a:buChar char="•"/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Pila Dinámica (Stack): Para la asignación jerárquica de bloques de memoria. </a:t>
            </a:r>
          </a:p>
          <a:p>
            <a:pPr algn="l">
              <a:lnSpc>
                <a:spcPts val="267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56394" y="7772575"/>
            <a:ext cx="809510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2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 representar el flujo del sistema operativo en la memoria RAM, se define una estructura base (struct) que actuará como el contenedor de cada proceso.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1894" y="812016"/>
            <a:ext cx="14364667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JUSTIFICACIÓN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04825" y="2369361"/>
            <a:ext cx="6446503" cy="3206023"/>
            <a:chOff x="0" y="0"/>
            <a:chExt cx="8595337" cy="427469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595337" cy="4274697"/>
              <a:chOff x="0" y="0"/>
              <a:chExt cx="1164838" cy="579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483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164838">
                    <a:moveTo>
                      <a:pt x="62811" y="0"/>
                    </a:moveTo>
                    <a:lnTo>
                      <a:pt x="1102026" y="0"/>
                    </a:lnTo>
                    <a:cubicBezTo>
                      <a:pt x="1118685" y="0"/>
                      <a:pt x="1134661" y="6618"/>
                      <a:pt x="1146441" y="18397"/>
                    </a:cubicBezTo>
                    <a:cubicBezTo>
                      <a:pt x="1158220" y="30176"/>
                      <a:pt x="1164838" y="46153"/>
                      <a:pt x="1164838" y="62811"/>
                    </a:cubicBezTo>
                    <a:lnTo>
                      <a:pt x="1164838" y="516494"/>
                    </a:lnTo>
                    <a:cubicBezTo>
                      <a:pt x="1164838" y="533153"/>
                      <a:pt x="1158220" y="549129"/>
                      <a:pt x="1146441" y="560909"/>
                    </a:cubicBezTo>
                    <a:cubicBezTo>
                      <a:pt x="1134661" y="572688"/>
                      <a:pt x="1118685" y="579306"/>
                      <a:pt x="1102026" y="579306"/>
                    </a:cubicBezTo>
                    <a:lnTo>
                      <a:pt x="62811" y="579306"/>
                    </a:lnTo>
                    <a:cubicBezTo>
                      <a:pt x="46153" y="579306"/>
                      <a:pt x="30176" y="572688"/>
                      <a:pt x="18397" y="560909"/>
                    </a:cubicBezTo>
                    <a:cubicBezTo>
                      <a:pt x="6618" y="549129"/>
                      <a:pt x="0" y="533153"/>
                      <a:pt x="0" y="516494"/>
                    </a:cubicBezTo>
                    <a:lnTo>
                      <a:pt x="0" y="62811"/>
                    </a:lnTo>
                    <a:cubicBezTo>
                      <a:pt x="0" y="46153"/>
                      <a:pt x="6618" y="30176"/>
                      <a:pt x="18397" y="18397"/>
                    </a:cubicBezTo>
                    <a:cubicBezTo>
                      <a:pt x="30176" y="6618"/>
                      <a:pt x="46153" y="0"/>
                      <a:pt x="628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627200" y="509566"/>
              <a:ext cx="7340936" cy="315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49"/>
                </a:lnSpc>
              </a:pPr>
              <a:r>
                <a:rPr lang="en-US" sz="2624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Lista enlazada (Procesos): Permite crear y eliminar tareas de forma dinámica en tiempo de ejecución mediante punteros, evitando el tamaño fijo y el desperdicio de memoria de un arreglo estático.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38184" y="2397423"/>
            <a:ext cx="7458377" cy="3149899"/>
            <a:chOff x="0" y="0"/>
            <a:chExt cx="9944502" cy="419986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944502" cy="4199866"/>
              <a:chOff x="0" y="0"/>
              <a:chExt cx="1371688" cy="5793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7168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5966"/>
                    </a:lnTo>
                    <a:cubicBezTo>
                      <a:pt x="1371688" y="555425"/>
                      <a:pt x="1347808" y="579306"/>
                      <a:pt x="1318349" y="579306"/>
                    </a:cubicBezTo>
                    <a:lnTo>
                      <a:pt x="53339" y="579306"/>
                    </a:lnTo>
                    <a:cubicBezTo>
                      <a:pt x="23881" y="579306"/>
                      <a:pt x="0" y="555425"/>
                      <a:pt x="0" y="525966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723995" y="806496"/>
              <a:ext cx="8391011" cy="2586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4"/>
                </a:lnSpc>
              </a:pP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Cola</a:t>
              </a:r>
              <a:r>
                <a:rPr lang="en-US" sz="2578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prioridad (CPU): Asegura que las tareas críticas se ejecuten primero al ordenar los procesos por su nivel de importancia, evitando que el sistema se congele por culpa de tareas comunes.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922436" y="5794459"/>
            <a:ext cx="7031497" cy="2969615"/>
            <a:chOff x="0" y="0"/>
            <a:chExt cx="9375329" cy="395948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375329" cy="3959487"/>
              <a:chOff x="0" y="0"/>
              <a:chExt cx="1371688" cy="57930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71688" cy="579306"/>
              </a:xfrm>
              <a:custGeom>
                <a:avLst/>
                <a:gdLst/>
                <a:ahLst/>
                <a:cxnLst/>
                <a:rect r="r" b="b" t="t" l="l"/>
                <a:pathLst>
                  <a:path h="579306" w="1371688">
                    <a:moveTo>
                      <a:pt x="53339" y="0"/>
                    </a:moveTo>
                    <a:lnTo>
                      <a:pt x="1318349" y="0"/>
                    </a:lnTo>
                    <a:cubicBezTo>
                      <a:pt x="1332496" y="0"/>
                      <a:pt x="1346063" y="5620"/>
                      <a:pt x="1356066" y="15623"/>
                    </a:cubicBezTo>
                    <a:cubicBezTo>
                      <a:pt x="1366069" y="25626"/>
                      <a:pt x="1371688" y="39193"/>
                      <a:pt x="1371688" y="53339"/>
                    </a:cubicBezTo>
                    <a:lnTo>
                      <a:pt x="1371688" y="525966"/>
                    </a:lnTo>
                    <a:cubicBezTo>
                      <a:pt x="1371688" y="555425"/>
                      <a:pt x="1347808" y="579306"/>
                      <a:pt x="1318349" y="579306"/>
                    </a:cubicBezTo>
                    <a:lnTo>
                      <a:pt x="53339" y="579306"/>
                    </a:lnTo>
                    <a:cubicBezTo>
                      <a:pt x="23881" y="579306"/>
                      <a:pt x="0" y="555425"/>
                      <a:pt x="0" y="525966"/>
                    </a:cubicBezTo>
                    <a:lnTo>
                      <a:pt x="0" y="53339"/>
                    </a:lnTo>
                    <a:cubicBezTo>
                      <a:pt x="0" y="23881"/>
                      <a:pt x="23881" y="0"/>
                      <a:pt x="53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A1542"/>
                </a:solidFill>
                <a:prstDash val="solid"/>
                <a:round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682557" y="760337"/>
              <a:ext cx="7910752" cy="2438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17"/>
                </a:lnSpc>
              </a:pP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Pila</a:t>
              </a:r>
              <a:r>
                <a:rPr lang="en-US" sz="2430">
                  <a:solidFill>
                    <a:srgbClr val="0A154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(Memoria): Utiliza la estructura LIFO ($Last\ In,\ First\ Out$) para apilar bloques de memoria al abrir procesos y liberarlos secuencialmente al cerrarlos, previniendo fugas de memoria.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48600" y="3579196"/>
            <a:ext cx="7364683" cy="4900862"/>
          </a:xfrm>
          <a:custGeom>
            <a:avLst/>
            <a:gdLst/>
            <a:ahLst/>
            <a:cxnLst/>
            <a:rect r="r" b="b" t="t" l="l"/>
            <a:pathLst>
              <a:path h="4900862" w="7364683">
                <a:moveTo>
                  <a:pt x="0" y="0"/>
                </a:moveTo>
                <a:lnTo>
                  <a:pt x="7364682" y="0"/>
                </a:lnTo>
                <a:lnTo>
                  <a:pt x="7364682" y="4900861"/>
                </a:lnTo>
                <a:lnTo>
                  <a:pt x="0" y="49008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154067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6"/>
              </a:lnSpc>
            </a:pPr>
            <a:r>
              <a:rPr lang="en-US" sz="723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DESCRIPCIÓN DE ESTRUCTURAS DE DATOS Y OPERACIONES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20340"/>
            <a:ext cx="8946365" cy="555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sistem</a:t>
            </a: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utiliza tres estructuras dinámicas lineales conectadas mediante un nodo común:</a:t>
            </a:r>
          </a:p>
          <a:p>
            <a:pPr algn="l">
              <a:lnSpc>
                <a:spcPts val="2971"/>
              </a:lnSpc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 Enlazada Simple:</a:t>
            </a:r>
          </a:p>
          <a:p>
            <a:pPr algn="l" marL="916347" indent="-305449" lvl="2">
              <a:lnSpc>
                <a:spcPts val="2971"/>
              </a:lnSpc>
              <a:buFont typeface="Arial"/>
              <a:buChar char="⚬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Gestiona todos los procesos registrados de manera secuencial. Permite insertar, buscar y eliminar procesos mediante enlaces entre nodos.</a:t>
            </a:r>
          </a:p>
          <a:p>
            <a:pPr algn="l">
              <a:lnSpc>
                <a:spcPts val="2971"/>
              </a:lnSpc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Cola de Prioridad:</a:t>
            </a:r>
          </a:p>
          <a:p>
            <a:pPr algn="l" marL="916347" indent="-305449" lvl="2">
              <a:lnSpc>
                <a:spcPts val="2971"/>
              </a:lnSpc>
              <a:buFont typeface="Arial"/>
              <a:buChar char="⚬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Organiza la ejecución de procesos según su prioridad. Los procesos con menor número de prioridad se atienden primero mediante operaciones de inserción y desencolado.</a:t>
            </a:r>
          </a:p>
          <a:p>
            <a:pPr algn="l">
              <a:lnSpc>
                <a:spcPts val="2971"/>
              </a:lnSpc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Pila Dinámica:</a:t>
            </a:r>
          </a:p>
          <a:p>
            <a:pPr algn="l" marL="916347" indent="-305449" lvl="2">
              <a:lnSpc>
                <a:spcPts val="2971"/>
              </a:lnSpc>
              <a:buFont typeface="Arial"/>
              <a:buChar char="⚬"/>
            </a:pPr>
            <a:r>
              <a:rPr lang="en-US" sz="212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Administra la memoria RAM de forma vertical. Usa operaciones push para asignar memoria y pop para liberar el último bloque almacenado.</a:t>
            </a:r>
          </a:p>
          <a:p>
            <a:pPr algn="l">
              <a:lnSpc>
                <a:spcPts val="297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173185" y="476213"/>
            <a:ext cx="17005246" cy="11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97709" indent="-798855" lvl="1">
              <a:lnSpc>
                <a:spcPts val="8880"/>
              </a:lnSpc>
              <a:buFont typeface="Arial"/>
              <a:buChar char="•"/>
            </a:pPr>
            <a:r>
              <a:rPr lang="en-US" sz="7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PSEUDOCÓDIGO PARA AGREGAR PROCESO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5316" y="1825645"/>
            <a:ext cx="6654286" cy="7432655"/>
          </a:xfrm>
          <a:custGeom>
            <a:avLst/>
            <a:gdLst/>
            <a:ahLst/>
            <a:cxnLst/>
            <a:rect r="r" b="b" t="t" l="l"/>
            <a:pathLst>
              <a:path h="7432655" w="6654286">
                <a:moveTo>
                  <a:pt x="0" y="0"/>
                </a:moveTo>
                <a:lnTo>
                  <a:pt x="6654286" y="0"/>
                </a:lnTo>
                <a:lnTo>
                  <a:pt x="6654286" y="7432655"/>
                </a:lnTo>
                <a:lnTo>
                  <a:pt x="0" y="7432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9464" y="2982104"/>
            <a:ext cx="8904887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Agreg</a:t>
            </a: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Proceso :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Validación: Se solicita un id (debe ser &gt; 0) y una prioridad (valores estrictos entre 1 y 3).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Asignación: Se evalúa el estado de la lista mediante la variable lógica lista_vacia.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Inserción: Si está vacía, el nodo se convierte en la cabeza. Si no, se simula el recorrido mediante un bucle hasta enlazar el nodo al final de la lista.</a:t>
            </a:r>
          </a:p>
          <a:p>
            <a:pPr algn="l">
              <a:lnSpc>
                <a:spcPts val="342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68424" y="614456"/>
            <a:ext cx="18432485" cy="100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46583" indent="-723291" lvl="1">
              <a:lnSpc>
                <a:spcPts val="8040"/>
              </a:lnSpc>
              <a:buFont typeface="Arial"/>
              <a:buChar char="•"/>
            </a:pPr>
            <a:r>
              <a:rPr lang="en-US" sz="67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PSEUDOCÓDIGO PARA CAMBIAR ESTADO DEL PROCESO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5316" y="1825645"/>
            <a:ext cx="6654286" cy="7432655"/>
          </a:xfrm>
          <a:custGeom>
            <a:avLst/>
            <a:gdLst/>
            <a:ahLst/>
            <a:cxnLst/>
            <a:rect r="r" b="b" t="t" l="l"/>
            <a:pathLst>
              <a:path h="7432655" w="6654286">
                <a:moveTo>
                  <a:pt x="0" y="0"/>
                </a:moveTo>
                <a:lnTo>
                  <a:pt x="6654286" y="0"/>
                </a:lnTo>
                <a:lnTo>
                  <a:pt x="6654286" y="7432655"/>
                </a:lnTo>
                <a:lnTo>
                  <a:pt x="0" y="7432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9464" y="2982104"/>
            <a:ext cx="8904887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Modific</a:t>
            </a: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Prioridad (CambiarEstadoProceso):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Búsqueda: Registra un idBuscar y lo contrasta con los datos simulados en el sistema (idSimulado = 101).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Actualización: Si coincide (encontrado = Verdadero), solicita y valida la nuevaPrioridad para actualizar el nodo. De lo contrario, recorre los siguientes nodos o muestra un mensaje de error.</a:t>
            </a:r>
          </a:p>
          <a:p>
            <a:pPr algn="l">
              <a:lnSpc>
                <a:spcPts val="342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020785" y="628613"/>
            <a:ext cx="17005246" cy="11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97709" indent="-798855" lvl="1">
              <a:lnSpc>
                <a:spcPts val="8880"/>
              </a:lnSpc>
              <a:buFont typeface="Arial"/>
              <a:buChar char="•"/>
            </a:pPr>
            <a:r>
              <a:rPr lang="en-US" sz="7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DIAGRAMAS DE FLUJO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900770" y="15240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6024" y="15240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585029" y="89922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8003" y="2789710"/>
            <a:ext cx="3259094" cy="4707580"/>
          </a:xfrm>
          <a:custGeom>
            <a:avLst/>
            <a:gdLst/>
            <a:ahLst/>
            <a:cxnLst/>
            <a:rect r="r" b="b" t="t" l="l"/>
            <a:pathLst>
              <a:path h="4707580" w="3259094">
                <a:moveTo>
                  <a:pt x="0" y="0"/>
                </a:moveTo>
                <a:lnTo>
                  <a:pt x="3259094" y="0"/>
                </a:lnTo>
                <a:lnTo>
                  <a:pt x="3259094" y="4707580"/>
                </a:lnTo>
                <a:lnTo>
                  <a:pt x="0" y="4707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97097" y="2789710"/>
            <a:ext cx="4473299" cy="4707580"/>
          </a:xfrm>
          <a:custGeom>
            <a:avLst/>
            <a:gdLst/>
            <a:ahLst/>
            <a:cxnLst/>
            <a:rect r="r" b="b" t="t" l="l"/>
            <a:pathLst>
              <a:path h="4707580" w="4473299">
                <a:moveTo>
                  <a:pt x="0" y="0"/>
                </a:moveTo>
                <a:lnTo>
                  <a:pt x="4473299" y="0"/>
                </a:lnTo>
                <a:lnTo>
                  <a:pt x="4473299" y="4707580"/>
                </a:lnTo>
                <a:lnTo>
                  <a:pt x="0" y="47075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01032" y="2789710"/>
            <a:ext cx="8904887" cy="55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Agreg</a:t>
            </a: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 Proceso :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Validación: Se solicita un id (debe ser &gt; 0) y una prioridad (valores estrictos entre 1 y 3).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Asignación: Se evalúa el estado de la lista mediante la variable lógica lista_vacia.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Inserción: Si está vacía, el nodo se convierte en la cabeza. Si no, se simula el recorrido mediante un bucle hasta enlazar el nodo al final de la lista.</a:t>
            </a:r>
          </a:p>
          <a:p>
            <a:pPr algn="l">
              <a:lnSpc>
                <a:spcPts val="342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020785" y="628613"/>
            <a:ext cx="17005246" cy="11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97709" indent="-798855" lvl="1">
              <a:lnSpc>
                <a:spcPts val="8880"/>
              </a:lnSpc>
              <a:buFont typeface="Arial"/>
              <a:buChar char="•"/>
            </a:pPr>
            <a:r>
              <a:rPr lang="en-US" sz="7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DIAGRAMAS DE FLUJO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900770" y="15240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6024" y="15240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585029" y="89922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2974" y="2459542"/>
            <a:ext cx="3833931" cy="5697150"/>
          </a:xfrm>
          <a:custGeom>
            <a:avLst/>
            <a:gdLst/>
            <a:ahLst/>
            <a:cxnLst/>
            <a:rect r="r" b="b" t="t" l="l"/>
            <a:pathLst>
              <a:path h="5697150" w="3833931">
                <a:moveTo>
                  <a:pt x="0" y="0"/>
                </a:moveTo>
                <a:lnTo>
                  <a:pt x="3833930" y="0"/>
                </a:lnTo>
                <a:lnTo>
                  <a:pt x="3833930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86904" y="2459542"/>
            <a:ext cx="3941720" cy="3790116"/>
          </a:xfrm>
          <a:custGeom>
            <a:avLst/>
            <a:gdLst/>
            <a:ahLst/>
            <a:cxnLst/>
            <a:rect r="r" b="b" t="t" l="l"/>
            <a:pathLst>
              <a:path h="3790116" w="3941720">
                <a:moveTo>
                  <a:pt x="0" y="0"/>
                </a:moveTo>
                <a:lnTo>
                  <a:pt x="3941721" y="0"/>
                </a:lnTo>
                <a:lnTo>
                  <a:pt x="3941721" y="3790116"/>
                </a:lnTo>
                <a:lnTo>
                  <a:pt x="0" y="37901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86904" y="6257595"/>
            <a:ext cx="3941720" cy="1934839"/>
          </a:xfrm>
          <a:custGeom>
            <a:avLst/>
            <a:gdLst/>
            <a:ahLst/>
            <a:cxnLst/>
            <a:rect r="r" b="b" t="t" l="l"/>
            <a:pathLst>
              <a:path h="1934839" w="3941720">
                <a:moveTo>
                  <a:pt x="0" y="0"/>
                </a:moveTo>
                <a:lnTo>
                  <a:pt x="3941721" y="0"/>
                </a:lnTo>
                <a:lnTo>
                  <a:pt x="3941721" y="1934839"/>
                </a:lnTo>
                <a:lnTo>
                  <a:pt x="0" y="19348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06929" y="2459542"/>
            <a:ext cx="8904887" cy="514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Cambiar estado</a:t>
            </a: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: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Validación: Se solicita un id para realizar la busqueda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Actualizacion: Cambia el estado de prioridad</a:t>
            </a:r>
          </a:p>
          <a:p>
            <a:pPr algn="l">
              <a:lnSpc>
                <a:spcPts val="3421"/>
              </a:lnSpc>
            </a:pPr>
          </a:p>
          <a:p>
            <a:pPr algn="l" marL="615526" indent="-307763" lvl="1">
              <a:lnSpc>
                <a:spcPts val="3421"/>
              </a:lnSpc>
              <a:buFont typeface="Arial"/>
              <a:buChar char="•"/>
            </a:pPr>
            <a:r>
              <a:rPr lang="en-US" sz="28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Finalizacion: Si es verdadero el codigo termino de buscar y no enconrtro el ID, caso contrario si lo encuentra y ambos terminan en fin del algoritmo</a:t>
            </a:r>
          </a:p>
          <a:p>
            <a:pPr algn="l">
              <a:lnSpc>
                <a:spcPts val="3421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737429" y="8839803"/>
            <a:ext cx="24324208" cy="1924643"/>
          </a:xfrm>
          <a:custGeom>
            <a:avLst/>
            <a:gdLst/>
            <a:ahLst/>
            <a:cxnLst/>
            <a:rect r="r" b="b" t="t" l="l"/>
            <a:pathLst>
              <a:path h="1924643" w="24324208">
                <a:moveTo>
                  <a:pt x="0" y="1924642"/>
                </a:moveTo>
                <a:lnTo>
                  <a:pt x="24324208" y="1924642"/>
                </a:lnTo>
                <a:lnTo>
                  <a:pt x="24324208" y="0"/>
                </a:lnTo>
                <a:lnTo>
                  <a:pt x="0" y="0"/>
                </a:lnTo>
                <a:lnTo>
                  <a:pt x="0" y="19246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020785" y="628613"/>
            <a:ext cx="1700524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97709" indent="-798855" lvl="1">
              <a:lnSpc>
                <a:spcPts val="8880"/>
              </a:lnSpc>
              <a:buFont typeface="Arial"/>
              <a:buChar char="•"/>
            </a:pPr>
            <a:r>
              <a:rPr lang="en-US" sz="7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JUSTIFICACION DEL DISEÑO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14712"/>
            <a:ext cx="12000684" cy="707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  <a:spcBef>
                <a:spcPct val="0"/>
              </a:spcBef>
            </a:pPr>
            <a:r>
              <a:rPr lang="en-US" sz="314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Ventaja de Modularidad: Separar el sistema en tres subsistemas independientes (Lista para registro, Cola para CPU y Pila para Memoria) pero que comparten la misma estructura de nodo, permite que los datos fluyan entre ellos limpiamente sin necesidad de duplicar variables ni sobrecargar la memoria RAM.</a:t>
            </a:r>
          </a:p>
          <a:p>
            <a:pPr algn="l">
              <a:lnSpc>
                <a:spcPts val="3778"/>
              </a:lnSpc>
              <a:spcBef>
                <a:spcPct val="0"/>
              </a:spcBef>
            </a:pPr>
            <a:r>
              <a:rPr lang="en-US" sz="314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Eficiencia Dinámica: Al diseñar todo con punteros primitivos, las operaciones de inserción, ordenamiento y eliminación se ejecutan modificando enlaces de direcciones de memoria en tiempo real. Esto evita el uso de instrucciones costosas de copia o reubicación de datos que sufren los arreglos estáticos, asegurando respuestas inmediatas en la consola.</a:t>
            </a:r>
          </a:p>
          <a:p>
            <a:pPr algn="l">
              <a:lnSpc>
                <a:spcPts val="3778"/>
              </a:lnSpc>
              <a:spcBef>
                <a:spcPct val="0"/>
              </a:spcBef>
            </a:pPr>
            <a:r>
              <a:rPr lang="en-US" sz="314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Control de Errores Riguroso: Al enlazar directamente el algoritmo de búsqueda con el de cambio de estado, garantizamos que el sistema jamás intente modificar o procesar un elemento inexistente, manteniendo la estabilidad total del software.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E70A3">
                <a:alpha val="100000"/>
              </a:srgbClr>
            </a:gs>
            <a:gs pos="50000">
              <a:srgbClr val="0A1542">
                <a:alpha val="100000"/>
              </a:srgbClr>
            </a:gs>
            <a:gs pos="100000">
              <a:srgbClr val="0A154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150240" y="-1285875"/>
            <a:ext cx="9391668" cy="2314575"/>
            <a:chOff x="0" y="0"/>
            <a:chExt cx="2473526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2253908" y="-1285875"/>
            <a:ext cx="9391668" cy="2314575"/>
            <a:chOff x="0" y="0"/>
            <a:chExt cx="2473526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3526" cy="609600"/>
            </a:xfrm>
            <a:custGeom>
              <a:avLst/>
              <a:gdLst/>
              <a:ahLst/>
              <a:cxnLst/>
              <a:rect r="r" b="b" t="t" l="l"/>
              <a:pathLst>
                <a:path h="609600" w="2473526">
                  <a:moveTo>
                    <a:pt x="203200" y="0"/>
                  </a:moveTo>
                  <a:lnTo>
                    <a:pt x="2270326" y="0"/>
                  </a:lnTo>
                  <a:lnTo>
                    <a:pt x="247352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A154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-38100"/>
              <a:ext cx="2219526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550045"/>
            <a:ext cx="18288000" cy="2314575"/>
            <a:chOff x="0" y="0"/>
            <a:chExt cx="4816593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609600"/>
            </a:xfrm>
            <a:custGeom>
              <a:avLst/>
              <a:gdLst/>
              <a:ahLst/>
              <a:cxnLst/>
              <a:rect r="r" b="b" t="t" l="l"/>
              <a:pathLst>
                <a:path h="609600" w="4816592">
                  <a:moveTo>
                    <a:pt x="203200" y="0"/>
                  </a:moveTo>
                  <a:lnTo>
                    <a:pt x="4613392" y="0"/>
                  </a:lnTo>
                  <a:lnTo>
                    <a:pt x="48165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E70A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4562593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748370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2308054" y="0"/>
                </a:moveTo>
                <a:lnTo>
                  <a:pt x="0" y="0"/>
                </a:lnTo>
                <a:lnTo>
                  <a:pt x="0" y="1624031"/>
                </a:lnTo>
                <a:lnTo>
                  <a:pt x="2308054" y="1624031"/>
                </a:lnTo>
                <a:lnTo>
                  <a:pt x="23080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24" y="0"/>
            <a:ext cx="2308055" cy="1624031"/>
          </a:xfrm>
          <a:custGeom>
            <a:avLst/>
            <a:gdLst/>
            <a:ahLst/>
            <a:cxnLst/>
            <a:rect r="r" b="b" t="t" l="l"/>
            <a:pathLst>
              <a:path h="1624031" w="2308055">
                <a:moveTo>
                  <a:pt x="0" y="0"/>
                </a:moveTo>
                <a:lnTo>
                  <a:pt x="2308054" y="0"/>
                </a:lnTo>
                <a:lnTo>
                  <a:pt x="2308054" y="1624031"/>
                </a:lnTo>
                <a:lnTo>
                  <a:pt x="0" y="162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49152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848999" y="4640492"/>
            <a:ext cx="3387847" cy="1006016"/>
          </a:xfrm>
          <a:custGeom>
            <a:avLst/>
            <a:gdLst/>
            <a:ahLst/>
            <a:cxnLst/>
            <a:rect r="r" b="b" t="t" l="l"/>
            <a:pathLst>
              <a:path h="1006016" w="3387847">
                <a:moveTo>
                  <a:pt x="0" y="0"/>
                </a:moveTo>
                <a:lnTo>
                  <a:pt x="3387847" y="0"/>
                </a:lnTo>
                <a:lnTo>
                  <a:pt x="3387847" y="1006016"/>
                </a:lnTo>
                <a:lnTo>
                  <a:pt x="0" y="100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47393" y="1028700"/>
            <a:ext cx="1793214" cy="267352"/>
          </a:xfrm>
          <a:custGeom>
            <a:avLst/>
            <a:gdLst/>
            <a:ahLst/>
            <a:cxnLst/>
            <a:rect r="r" b="b" t="t" l="l"/>
            <a:pathLst>
              <a:path h="267352" w="1793214">
                <a:moveTo>
                  <a:pt x="0" y="0"/>
                </a:moveTo>
                <a:lnTo>
                  <a:pt x="1793214" y="0"/>
                </a:lnTo>
                <a:lnTo>
                  <a:pt x="1793214" y="267352"/>
                </a:lnTo>
                <a:lnTo>
                  <a:pt x="0" y="267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-2584" y="4011930"/>
            <a:ext cx="9146584" cy="5246370"/>
            <a:chOff x="0" y="0"/>
            <a:chExt cx="7981950" cy="457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10"/>
              <a:stretch>
                <a:fillRect l="-7416" t="0" r="-7416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479334" y="1672585"/>
            <a:ext cx="9914513" cy="3973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23"/>
              </a:lnSpc>
            </a:pPr>
            <a:r>
              <a:rPr lang="en-US" sz="1310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GRACIAS POR SU 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DAHKQX9uXxQ</dc:identifier>
  <dcterms:modified xsi:type="dcterms:W3CDTF">2011-08-01T06:04:30Z</dcterms:modified>
  <cp:revision>1</cp:revision>
  <dc:title>Presentación Trabajo Final</dc:title>
</cp:coreProperties>
</file>